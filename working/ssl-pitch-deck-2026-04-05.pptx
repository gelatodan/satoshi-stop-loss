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0" y="27432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1E1E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SATOSHI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LOSS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stop loss that fires before the market does.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71216"/>
            <a:ext cx="2286000" cy="3657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Investment Opportunity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84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NOT FOR DISTRIBUTION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$110B Sword of Damocles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Nakamoto controls approximately 1.1 million BTC — roughly 5% of all Bitcoin ever mined. These coins have not moved since 2009–2010.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move, it would signal one of: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Forced sale or compromise of Satoshi's keys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Coordinated exit or unknown heir liquidation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State-level seizure with forced market sale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1874520" cy="987552"/>
          </a:xfrm>
          <a:prstGeom prst="rect">
            <a:avLst/>
          </a:prstGeom>
          <a:solidFill>
            <a:srgbClr val="252545"/>
          </a:solidFill>
          <a:ln w="1905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1691640" cy="47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1.1M BTC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0" y="153911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holdings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7563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moved since 2009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0" y="1005840"/>
            <a:ext cx="1920240" cy="987552"/>
          </a:xfrm>
          <a:prstGeom prst="rect">
            <a:avLst/>
          </a:prstGeom>
          <a:solidFill>
            <a:srgbClr val="252545"/>
          </a:solidFill>
          <a:ln w="1905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1097280"/>
            <a:ext cx="1737360" cy="47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~$110B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949440" y="153911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USD value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17563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$100K per BTC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1874520" cy="987552"/>
          </a:xfrm>
          <a:prstGeom prst="rect">
            <a:avLst/>
          </a:prstGeom>
          <a:solidFill>
            <a:srgbClr val="252545"/>
          </a:solidFill>
          <a:ln w="1905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194560"/>
            <a:ext cx="1691640" cy="47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37760" y="263639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supply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8536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holder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0" y="2103120"/>
            <a:ext cx="1920240" cy="987552"/>
          </a:xfrm>
          <a:prstGeom prst="rect">
            <a:avLst/>
          </a:prstGeom>
          <a:solidFill>
            <a:srgbClr val="252545"/>
          </a:solidFill>
          <a:ln w="1905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2194560"/>
            <a:ext cx="1737360" cy="47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mins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263639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reaction 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28536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stops gap down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141428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31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not a tail risk — it is a known, named, unhedged risk with a known source address set."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Has Already Priced This Risk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920240"/>
          </a:xfrm>
          <a:prstGeom prst="rect">
            <a:avLst/>
          </a:prstGeom>
          <a:solidFill>
            <a:srgbClr val="252545"/>
          </a:solidFill>
          <a:ln w="2540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Satoshi's BTC move in 2025?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$44.2M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open bets — one of the largest crypto prediction markets ever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0" y="1078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Supply Shock Comparisons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114800" cy="384048"/>
          </a:xfrm>
          <a:prstGeom prst="rect">
            <a:avLst/>
          </a:prstGeom>
          <a:solidFill>
            <a:srgbClr val="141428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17320"/>
            <a:ext cx="45720" cy="38404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45389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Mt. Gox 2014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91456" y="161848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850K BTC unlocked → -80% price decline over 6 months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865376"/>
            <a:ext cx="4114800" cy="384048"/>
          </a:xfrm>
          <a:prstGeom prst="rect">
            <a:avLst/>
          </a:prstGeom>
          <a:solidFill>
            <a:srgbClr val="141428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865376"/>
            <a:ext cx="45720" cy="38404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90195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Luna/UST 2022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91456" y="2066544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$18B depeg → contagion cascade across DeFi ecosystem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313432"/>
            <a:ext cx="4114800" cy="384048"/>
          </a:xfrm>
          <a:prstGeom prst="rect">
            <a:avLst/>
          </a:prstGeom>
          <a:solidFill>
            <a:srgbClr val="141428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313432"/>
            <a:ext cx="45720" cy="38404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235000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FTX 2022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91456" y="251460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$8B gap in assets → cascade liquidations across industry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761488"/>
            <a:ext cx="4114800" cy="384048"/>
          </a:xfrm>
          <a:prstGeom prst="rect">
            <a:avLst/>
          </a:prstGeom>
          <a:solidFill>
            <a:srgbClr val="141428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761488"/>
            <a:ext cx="45720" cy="38404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2798064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scenario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91456" y="296265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 BTC (7× Mt. Gox volume) — zero advance warning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fail: exchange stop-losses gap past limits, manual triggers require human reaction time, no on-chain automation exists.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Oracle-Speed Automated Protection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automatically liquidates BTC-correlated positions the moment a Satoshi UTXO spend is detected — before price discovery.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" y="1627632"/>
            <a:ext cx="2651760" cy="2468880"/>
          </a:xfrm>
          <a:prstGeom prst="rect">
            <a:avLst/>
          </a:prstGeom>
          <a:solidFill>
            <a:srgbClr val="252545"/>
          </a:solidFill>
          <a:ln w="12700">
            <a:solidFill>
              <a:srgbClr val="3333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27632"/>
            <a:ext cx="265176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1773936"/>
            <a:ext cx="640080" cy="6400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1773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&amp; CONFIGURE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28346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deposits assets into an SSL vault on any supported chain. Sets destination address and trigger preferences. No custody transfer.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54096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1627632"/>
            <a:ext cx="2651760" cy="2468880"/>
          </a:xfrm>
          <a:prstGeom prst="rect">
            <a:avLst/>
          </a:prstGeom>
          <a:solidFill>
            <a:srgbClr val="252545"/>
          </a:solidFill>
          <a:ln w="12700">
            <a:solidFill>
              <a:srgbClr val="3333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627632"/>
            <a:ext cx="265176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773936"/>
            <a:ext cx="640080" cy="6400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773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9184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WATCHES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28346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relay nodes monitor all known Satoshi UTXO addresses 24/7. N-of-M committee signs attestation on detection.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07024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53328" y="1627632"/>
            <a:ext cx="2651760" cy="2468880"/>
          </a:xfrm>
          <a:prstGeom prst="rect">
            <a:avLst/>
          </a:prstGeom>
          <a:solidFill>
            <a:srgbClr val="252545"/>
          </a:solidFill>
          <a:ln w="12700">
            <a:solidFill>
              <a:srgbClr val="3333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53328" y="1627632"/>
            <a:ext cx="265176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9168" y="1773936"/>
            <a:ext cx="640080" cy="6400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1773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44768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FIRES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90488" y="28346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message broadcasts trigger. Vault locks. Positions unwind via CLN → IF → DEX → Auctioneer. Proceeds delivered to destination.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224528"/>
            <a:ext cx="8229600" cy="384048"/>
          </a:xfrm>
          <a:prstGeom prst="rect">
            <a:avLst/>
          </a:prstGeom>
          <a:solidFill>
            <a:srgbClr val="0D0D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245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Fires before price discovery — the only protocol that responds at oracle speed, not human speed.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MECHANICS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Four-Tier Liquidation Waterfall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3840480" cy="640080"/>
          </a:xfrm>
          <a:prstGeom prst="rect">
            <a:avLst/>
          </a:prstGeom>
          <a:solidFill>
            <a:srgbClr val="02C39A">
              <a:alpha val="78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704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93192" y="135331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Liquidity Network (CLN)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" y="155448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 pre-committed to buy — fastest, lowest cost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901952"/>
            <a:ext cx="3291840" cy="640080"/>
          </a:xfrm>
          <a:prstGeom prst="rect">
            <a:avLst/>
          </a:prstGeom>
          <a:solidFill>
            <a:srgbClr val="F7931A">
              <a:alpha val="78000"/>
            </a:srgbClr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9568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7512" y="213969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Fund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" y="234086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Protocol-owned capital absorbs BTC positions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2688336"/>
            <a:ext cx="2743200" cy="640080"/>
          </a:xfrm>
          <a:prstGeom prst="rect">
            <a:avLst/>
          </a:prstGeom>
          <a:solidFill>
            <a:srgbClr val="4C8BF5">
              <a:alpha val="78000"/>
            </a:srgbClr>
          </a:solidFill>
          <a:ln w="19050">
            <a:solidFill>
              <a:srgbClr val="4C8B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743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41832" y="292608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Routing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1832" y="312724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routing to deepest on-chain liquidity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43000" y="3474720"/>
            <a:ext cx="2194560" cy="640080"/>
          </a:xfrm>
          <a:prstGeom prst="rect">
            <a:avLst/>
          </a:prstGeom>
          <a:solidFill>
            <a:srgbClr val="A259FF">
              <a:alpha val="78000"/>
            </a:srgbClr>
          </a:solidFill>
          <a:ln w="19050">
            <a:solidFill>
              <a:srgbClr val="A25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35295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2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16152" y="371246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Auctioneer Network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16152" y="391363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auction for residual positions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Sequence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02352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CLN exchanges have 5 minutes to execute pre-committed buys. Bond slashed on failure.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066544"/>
            <a:ext cx="329184" cy="32918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02352" y="20665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absorbs remaining BTC-denominated positions within 30-second window.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761488"/>
            <a:ext cx="329184" cy="329184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02352" y="27614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routing for stablecoin and non-BTC positions via optimal aggregation.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456432"/>
            <a:ext cx="329184" cy="329184"/>
          </a:xfrm>
          <a:prstGeom prst="ellipse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02352" y="34564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Auctioneer Dutch auction clears residual with price discovery over 1-hour window.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224528"/>
            <a:ext cx="8229600" cy="384048"/>
          </a:xfrm>
          <a:prstGeom prst="rect">
            <a:avLst/>
          </a:prstGeom>
          <a:solidFill>
            <a:srgbClr val="0D0D1A"/>
          </a:solidFill>
          <a:ln w="10160">
            <a:solidFill>
              <a:srgbClr val="3333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245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tier operates autonomously via smart contracts. No human intervention required at any stage of the liquidation cascade.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CLN: Built-In Distribution Moat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CLN Works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548640"/>
          </a:xfrm>
          <a:prstGeom prst="rect">
            <a:avLst/>
          </a:prstGeom>
          <a:solidFill>
            <a:srgbClr val="141428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457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81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Bond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 post 1–2% bond in USDC/ETH. Capital efficient — no BTC exposure required.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3931920" cy="548640"/>
          </a:xfrm>
          <a:prstGeom prst="rect">
            <a:avLst/>
          </a:prstGeom>
          <a:solidFill>
            <a:srgbClr val="141428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57400"/>
            <a:ext cx="457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21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Standby Fees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331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fee income simply for being active on the network. Revenue without deploying capital.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solidFill>
            <a:srgbClr val="141428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457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614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 Trigger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971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SLA to execute committed buy volume. Bond slashed on failure — credible commitment mechanism.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solidFill>
            <a:srgbClr val="141428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37560"/>
            <a:ext cx="457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01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Distribution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earns standby fees AND has economic incentive to onboard their users to SSL vaults.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1078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CLN Growth Flywheel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1444752"/>
            <a:ext cx="3931920" cy="566928"/>
          </a:xfrm>
          <a:prstGeom prst="rect">
            <a:avLst/>
          </a:prstGeom>
          <a:solidFill>
            <a:srgbClr val="252545"/>
          </a:solidFill>
          <a:ln w="10160">
            <a:solidFill>
              <a:srgbClr val="F793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01184" y="1563624"/>
            <a:ext cx="329184" cy="32918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21808" y="1536192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CLN partners → larger committed liquidity depth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121408"/>
            <a:ext cx="3931920" cy="566928"/>
          </a:xfrm>
          <a:prstGeom prst="rect">
            <a:avLst/>
          </a:prstGeom>
          <a:solidFill>
            <a:srgbClr val="252545"/>
          </a:solidFill>
          <a:ln w="10160">
            <a:solidFill>
              <a:srgbClr val="F793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01184" y="2240280"/>
            <a:ext cx="329184" cy="32918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2212848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liquidity → lower slippage on trigger → better user outcomes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798064"/>
            <a:ext cx="3931920" cy="566928"/>
          </a:xfrm>
          <a:prstGeom prst="rect">
            <a:avLst/>
          </a:prstGeom>
          <a:solidFill>
            <a:srgbClr val="252545"/>
          </a:solidFill>
          <a:ln w="10160">
            <a:solidFill>
              <a:srgbClr val="F793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01184" y="2916936"/>
            <a:ext cx="329184" cy="32918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2889504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outcomes → more AUM enrolled → higher standby fees paid to CLN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474720"/>
            <a:ext cx="3931920" cy="566928"/>
          </a:xfrm>
          <a:prstGeom prst="rect">
            <a:avLst/>
          </a:prstGeom>
          <a:solidFill>
            <a:srgbClr val="252545"/>
          </a:solidFill>
          <a:ln w="10160">
            <a:solidFill>
              <a:srgbClr val="F793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01184" y="3593592"/>
            <a:ext cx="329184" cy="32918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21808" y="3566160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fees → more exchanges want to join CLN → repeat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4160520"/>
            <a:ext cx="8229600" cy="420624"/>
          </a:xfrm>
          <a:prstGeom prst="rect">
            <a:avLst/>
          </a:prstGeom>
          <a:solidFill>
            <a:srgbClr val="0D1A0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160520"/>
            <a:ext cx="8010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CLN partner target: Luno (DCG-owned, 10M+ users) — founder's direct network provides committed liquidity AND retail distribution from day one.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Trillion-Dollar Hedging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657600" cy="3520440"/>
          </a:xfrm>
          <a:prstGeom prst="ellipse">
            <a:avLst/>
          </a:prstGeom>
          <a:solidFill>
            <a:srgbClr val="F7931A">
              <a:alpha val="12000"/>
            </a:srgbClr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~$2.1T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BTC holders with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risk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2176272"/>
            <a:ext cx="2889504" cy="1965960"/>
          </a:xfrm>
          <a:prstGeom prst="ellipse">
            <a:avLst/>
          </a:prstGeom>
          <a:solidFill>
            <a:srgbClr val="4C8BF5">
              <a:alpha val="20000"/>
            </a:srgbClr>
          </a:solidFill>
          <a:ln w="19050">
            <a:solidFill>
              <a:srgbClr val="4C8B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2128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~$180B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523744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DeFi-native BTC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(wBTC, cbBTC, collateral)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78992" y="3145536"/>
            <a:ext cx="2048256" cy="1133856"/>
          </a:xfrm>
          <a:prstGeom prst="ellipse">
            <a:avLst/>
          </a:prstGeom>
          <a:solidFill>
            <a:srgbClr val="00C896">
              <a:alpha val="30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2918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$1B–$5B AUM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78992" y="360273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1–3 Target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4840" y="1005840"/>
            <a:ext cx="2176272" cy="1207008"/>
          </a:xfrm>
          <a:prstGeom prst="rect">
            <a:avLst/>
          </a:prstGeom>
          <a:solidFill>
            <a:srgbClr val="252545"/>
          </a:solidFill>
          <a:ln w="12700">
            <a:solidFill>
              <a:srgbClr val="3333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109728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07992" y="159105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wallets with ≥1 BTC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07992" y="186537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direct enrollees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93992" y="1005840"/>
            <a:ext cx="2176272" cy="1207008"/>
          </a:xfrm>
          <a:prstGeom prst="rect">
            <a:avLst/>
          </a:prstGeom>
          <a:solidFill>
            <a:srgbClr val="252545"/>
          </a:solidFill>
          <a:ln w="12700">
            <a:solidFill>
              <a:srgbClr val="3333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85432" y="109728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$20B+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67144" y="159105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wBTC + cbBTC outstanding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67144" y="186537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BTC in DeFi today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34840" y="2423160"/>
            <a:ext cx="2176272" cy="1207008"/>
          </a:xfrm>
          <a:prstGeom prst="rect">
            <a:avLst/>
          </a:prstGeom>
          <a:solidFill>
            <a:srgbClr val="252545"/>
          </a:solidFill>
          <a:ln w="12700">
            <a:solidFill>
              <a:srgbClr val="3333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26280" y="251460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$5B+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07992" y="30083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insurance premium vol.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07992" y="328269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market estimate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93992" y="2423160"/>
            <a:ext cx="2176272" cy="1207008"/>
          </a:xfrm>
          <a:prstGeom prst="rect">
            <a:avLst/>
          </a:prstGeom>
          <a:solidFill>
            <a:srgbClr val="252545"/>
          </a:solidFill>
          <a:ln w="12700">
            <a:solidFill>
              <a:srgbClr val="3333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85432" y="251460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$44.2M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867144" y="30083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 Satoshi bet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67144" y="328269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Market-validated demand signal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SSL Occupies a Unique Quadrant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560320" cy="1737360"/>
          </a:xfrm>
          <a:prstGeom prst="rect">
            <a:avLst/>
          </a:prstGeom>
          <a:solidFill>
            <a:srgbClr val="111125"/>
          </a:solidFill>
          <a:ln w="6350">
            <a:solidFill>
              <a:srgbClr val="3333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960120"/>
            <a:ext cx="2560320" cy="1737360"/>
          </a:xfrm>
          <a:prstGeom prst="rect">
            <a:avLst/>
          </a:prstGeom>
          <a:solidFill>
            <a:srgbClr val="0A1A0A"/>
          </a:solidFill>
          <a:ln w="6350">
            <a:solidFill>
              <a:srgbClr val="3333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97480"/>
            <a:ext cx="2560320" cy="1737360"/>
          </a:xfrm>
          <a:prstGeom prst="rect">
            <a:avLst/>
          </a:prstGeom>
          <a:solidFill>
            <a:srgbClr val="111125"/>
          </a:solidFill>
          <a:ln w="6350">
            <a:solidFill>
              <a:srgbClr val="3333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697480"/>
            <a:ext cx="2560320" cy="1737360"/>
          </a:xfrm>
          <a:prstGeom prst="rect">
            <a:avLst/>
          </a:prstGeom>
          <a:solidFill>
            <a:srgbClr val="F7931A">
              <a:alpha val="10000"/>
            </a:srgbClr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85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685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-54864" y="12344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-54864" y="297180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5120640" cy="18288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960120"/>
            <a:ext cx="18288" cy="3474720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1289304"/>
            <a:ext cx="164592" cy="164592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12618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Stop-Loss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77824" y="3163824"/>
            <a:ext cx="164592" cy="164592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31363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Mutual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72384" y="1472184"/>
            <a:ext cx="164592" cy="164592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1444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Vaults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289304" y="3803904"/>
            <a:ext cx="164592" cy="164592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99616" y="3776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Oracle Bots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77640" y="3657600"/>
            <a:ext cx="274320" cy="274320"/>
          </a:xfrm>
          <a:prstGeom prst="ellipse">
            <a:avLst/>
          </a:prstGeom>
          <a:solidFill>
            <a:srgbClr val="F793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39776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On-Chain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760720" y="960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Competitors Don't Solve This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60720" y="1316736"/>
            <a:ext cx="310896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1380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Stop-Losses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52160" y="1609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down past your limit. Human reaction required. Centralized custody risk.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60720" y="2157984"/>
            <a:ext cx="310896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22219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Mutual / InsurAce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52160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bug coverage only. Won't pay on BTC market price decline.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60720" y="2999232"/>
            <a:ext cx="310896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3063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Vaults / Options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5216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hedges, expensive premium, no auto-trigger on Satoshi UTXO event.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60720" y="3840480"/>
            <a:ext cx="310896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39044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Oracle Bots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216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24/7 operation, miss trigger window, no capital backstop on failure.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Compounding Revenue Streams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965960"/>
          </a:xfrm>
          <a:prstGeom prst="rect">
            <a:avLst/>
          </a:prstGeom>
          <a:solidFill>
            <a:srgbClr val="252545"/>
          </a:solidFill>
          <a:ln w="1270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5486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Premiums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71907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fee at vault creation. Scales with vault size and chain risk tier.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" y="2542032"/>
            <a:ext cx="2432304" cy="274320"/>
          </a:xfrm>
          <a:prstGeom prst="rect">
            <a:avLst/>
          </a:prstGeom>
          <a:solidFill>
            <a:srgbClr val="0D0D1A"/>
          </a:solidFill>
          <a:ln w="635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54203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0.25–0.50% of enrolled AUM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18688" y="1005840"/>
            <a:ext cx="2651760" cy="1965960"/>
          </a:xfrm>
          <a:prstGeom prst="rect">
            <a:avLst/>
          </a:prstGeom>
          <a:solidFill>
            <a:srgbClr val="252545"/>
          </a:solidFill>
          <a:ln w="1270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005840"/>
            <a:ext cx="2651760" cy="5486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097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10128" y="1389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AUM Fees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171907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basis point fee on enrolled assets. Predictable, recurring protocol revenue.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28416" y="2542032"/>
            <a:ext cx="2432304" cy="274320"/>
          </a:xfrm>
          <a:prstGeom prst="rect">
            <a:avLst/>
          </a:prstGeom>
          <a:solidFill>
            <a:srgbClr val="0D0D1A"/>
          </a:solidFill>
          <a:ln w="6350">
            <a:solidFill>
              <a:srgbClr val="F793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254203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 bps / year on AUM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71616" y="1005840"/>
            <a:ext cx="2651760" cy="1965960"/>
          </a:xfrm>
          <a:prstGeom prst="rect">
            <a:avLst/>
          </a:prstGeom>
          <a:solidFill>
            <a:srgbClr val="252545"/>
          </a:solidFill>
          <a:ln w="1270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1005840"/>
            <a:ext cx="2651760" cy="5486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097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63056" y="1389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Auctioneer Revenue Share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81344" y="171907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auctioneer profits on trigger events flow to IF and SSL stakers.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81344" y="2542032"/>
            <a:ext cx="2432304" cy="274320"/>
          </a:xfrm>
          <a:prstGeom prst="rect">
            <a:avLst/>
          </a:prstGeom>
          <a:solidFill>
            <a:srgbClr val="0D0D1A"/>
          </a:solidFill>
          <a:ln w="6350">
            <a:solidFill>
              <a:srgbClr val="F79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254203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— event-driven upside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2999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 (Base Scenario)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0128"/>
          <a:ext cx="8229600" cy="1298448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  <a:gridCol w="1691640"/>
                <a:gridCol w="160020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Rev.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Annual Rev.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5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$100M AUM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$1B AUM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Self-sustaining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5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$10B AUM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79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SSL Token: Governance + IF Staking Yield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SSL total supply — hard cap, no emergency issuance ever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261872" cy="256032"/>
          </a:xfrm>
          <a:prstGeom prst="rect">
            <a:avLst/>
          </a:prstGeom>
          <a:solidFill>
            <a:srgbClr val="F7931A">
              <a:alpha val="82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10512" y="14630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Fund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841248" cy="256032"/>
          </a:xfrm>
          <a:prstGeom prst="rect">
            <a:avLst/>
          </a:prstGeom>
          <a:solidFill>
            <a:srgbClr val="4C8BF5">
              <a:alpha val="82000"/>
            </a:srgbClr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89888" y="180136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Ecosystem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757123" cy="256032"/>
          </a:xfrm>
          <a:prstGeom prst="rect">
            <a:avLst/>
          </a:prstGeom>
          <a:solidFill>
            <a:srgbClr val="A259FF">
              <a:alpha val="82000"/>
            </a:srgbClr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39696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05763" y="2139696"/>
            <a:ext cx="37234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Founders (4yr vest)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78024"/>
            <a:ext cx="504749" cy="256032"/>
          </a:xfrm>
          <a:prstGeom prst="rect">
            <a:avLst/>
          </a:prstGeom>
          <a:solidFill>
            <a:srgbClr val="02C39A">
              <a:alpha val="8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78024"/>
            <a:ext cx="5047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3389" y="2478024"/>
            <a:ext cx="39758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 / CLN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16352"/>
            <a:ext cx="420624" cy="256032"/>
          </a:xfrm>
          <a:prstGeom prst="rect">
            <a:avLst/>
          </a:prstGeom>
          <a:solidFill>
            <a:srgbClr val="00C896">
              <a:alpha val="82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1635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9264" y="281635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210312" cy="256032"/>
          </a:xfrm>
          <a:prstGeom prst="rect">
            <a:avLst/>
          </a:prstGeom>
          <a:solidFill>
            <a:srgbClr val="8888AA">
              <a:alpha val="82000"/>
            </a:srgbClr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468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" y="3154680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Reserve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210312" cy="256032"/>
          </a:xfrm>
          <a:prstGeom prst="rect">
            <a:avLst/>
          </a:prstGeom>
          <a:solidFill>
            <a:srgbClr val="888899">
              <a:alpha val="82000"/>
            </a:srgbClr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93008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" y="3493008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1225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&amp; Governance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1536192"/>
            <a:ext cx="374904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536192"/>
            <a:ext cx="54864" cy="7132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1609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Staking APY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18105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8–15% at $1B AUM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2029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fees distributed to stakers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0" y="2340864"/>
            <a:ext cx="374904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2340864"/>
            <a:ext cx="54864" cy="7132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4140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Lock Period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2615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unbonding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28346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stakers with IF solvency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0" y="3145536"/>
            <a:ext cx="374904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3145536"/>
            <a:ext cx="54864" cy="7132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32186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Rights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34198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SSL = 1 vote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36393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Params, fee rates, chain additions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29200" y="3950208"/>
            <a:ext cx="374904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3950208"/>
            <a:ext cx="54864" cy="71323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40233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Issuance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2080" y="4224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Prohibited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44439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— no dilution escape hatch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 to Full Decentralization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8229600" cy="45720"/>
          </a:xfrm>
          <a:prstGeom prst="rect">
            <a:avLst/>
          </a:prstGeom>
          <a:solidFill>
            <a:srgbClr val="333360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737360"/>
            <a:ext cx="274320" cy="27432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606040" cy="2606040"/>
          </a:xfrm>
          <a:prstGeom prst="rect">
            <a:avLst/>
          </a:prstGeom>
          <a:solidFill>
            <a:srgbClr val="252545"/>
          </a:solidFill>
          <a:ln w="1905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2606040" cy="5486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48640" y="23957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76148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Protocol audits (2×)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Federated oracle launch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ETH, Arb, Base mainnet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Solana mainnet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CLN anchor partner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SSL token genesis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0" y="1737360"/>
            <a:ext cx="274320" cy="27432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463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103120"/>
            <a:ext cx="2606040" cy="2606040"/>
          </a:xfrm>
          <a:prstGeom prst="rect">
            <a:avLst/>
          </a:prstGeom>
          <a:solidFill>
            <a:srgbClr val="252545"/>
          </a:solidFill>
          <a:ln w="19050">
            <a:solidFill>
              <a:srgbClr val="4C8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2103120"/>
            <a:ext cx="2606040" cy="54864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1945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91840" y="21945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91840" y="23957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91840" y="276148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Optimistic oracle upgrade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+3 additional chains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Auctioneer network public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5–10 CLN partners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$100M AUM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DAO governance live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32320" y="1737360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463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103120"/>
            <a:ext cx="2606040" cy="2606040"/>
          </a:xfrm>
          <a:prstGeom prst="rect">
            <a:avLst/>
          </a:prstGeom>
          <a:solidFill>
            <a:srgbClr val="2525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2103120"/>
            <a:ext cx="26060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1945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35040" y="21945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18–36 months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035040" y="23957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Trustless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35040" y="276148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ZK Bitcoin UTXO proof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Protocol fee switch vote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Institutional integrations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Reinsurance framework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Self-sustaining IF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Vault portability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DeFi &amp; Exchange Veterans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5029200" cy="2395728"/>
          </a:xfrm>
          <a:prstGeom prst="rect">
            <a:avLst/>
          </a:prstGeom>
          <a:solidFill>
            <a:srgbClr val="252545"/>
          </a:solidFill>
          <a:ln w="2540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24128"/>
            <a:ext cx="5029200" cy="6400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88720"/>
            <a:ext cx="1005840" cy="1005840"/>
          </a:xfrm>
          <a:prstGeom prst="ellipse">
            <a:avLst/>
          </a:prstGeom>
          <a:solidFill>
            <a:srgbClr val="252545"/>
          </a:solidFill>
          <a:ln w="25400">
            <a:solidFill>
              <a:srgbClr val="F79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[PLACEHOLDER: Founder Name]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14813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773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Head of Trading &amp; Payments, Luno (DCG-owned, 10M+ users across Africa &amp; Europe)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37360" y="2093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2× exited founder — gtxn was a Digital Currency Group (DCG) portfolio company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37360" y="2414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Direct network across exchanges, DeFi protocols, and institutional BTC ecosystem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2734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 and scaled trading infrastructure for emerging-market Bitcoin adoption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1024128"/>
            <a:ext cx="1572768" cy="1133856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115568"/>
            <a:ext cx="329184" cy="329184"/>
          </a:xfrm>
          <a:prstGeom prst="ellipse">
            <a:avLst/>
          </a:prstGeom>
          <a:solidFill>
            <a:srgbClr val="333360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5584" y="1517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Lead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15584" y="17739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protocol architecture, smart contract security, audit experience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61504" y="1024128"/>
            <a:ext cx="1572768" cy="1133856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3296" y="1115568"/>
            <a:ext cx="329184" cy="329184"/>
          </a:xfrm>
          <a:prstGeom prst="ellipse">
            <a:avLst/>
          </a:prstGeom>
          <a:solidFill>
            <a:srgbClr val="333360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6368" y="1517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16368" y="17739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BD, DeFi protocol GTM, CLN partner acquisition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760720" y="2322576"/>
            <a:ext cx="1572768" cy="1133856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2512" y="2414016"/>
            <a:ext cx="329184" cy="329184"/>
          </a:xfrm>
          <a:prstGeom prst="ellipse">
            <a:avLst/>
          </a:prstGeom>
          <a:solidFill>
            <a:srgbClr val="333360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15584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Compliance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15584" y="3072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Cayman Foundation structure, token legal, DeFi regulatory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461504" y="2322576"/>
            <a:ext cx="1572768" cy="1133856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414016"/>
            <a:ext cx="329184" cy="329184"/>
          </a:xfrm>
          <a:prstGeom prst="ellipse">
            <a:avLst/>
          </a:prstGeom>
          <a:solidFill>
            <a:srgbClr val="333360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Engineering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16368" y="3072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node infrastructure, ZK proof R&amp;D, relay networks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3547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Advisors — targeting Bitcoin researchers, DeFi founders, institutional crypto veterans]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solidFill>
            <a:srgbClr val="0D1A0D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88620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embedded in DCG/Luno ecosystem — immediate access to institutional BTC infrastructure and distribution from day one.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Infrastructure Window Is Open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4151376" cy="969264"/>
          </a:xfrm>
          <a:prstGeom prst="rect">
            <a:avLst/>
          </a:prstGeom>
          <a:solidFill>
            <a:srgbClr val="141428"/>
          </a:solidFill>
          <a:ln w="1016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24128"/>
            <a:ext cx="54864" cy="96926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1556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at All-Time High Valuations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" y="1371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 Satoshi BTC worth $110B+ — the overhang has never been larger. The cost of not hedging is at a record high.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24128"/>
            <a:ext cx="4151376" cy="969264"/>
          </a:xfrm>
          <a:prstGeom prst="rect">
            <a:avLst/>
          </a:prstGeom>
          <a:solidFill>
            <a:srgbClr val="141428"/>
          </a:solidFill>
          <a:ln w="10160">
            <a:solidFill>
              <a:srgbClr val="4C8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24128"/>
            <a:ext cx="54864" cy="969264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1556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Messaging Battle-Tested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9472" y="1371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LayerZero, Wormhole, CCIP have processed hundreds of billions. SSL's trigger broadcast layer has production-ready infrastructure.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139696"/>
            <a:ext cx="4151376" cy="969264"/>
          </a:xfrm>
          <a:prstGeom prst="rect">
            <a:avLst/>
          </a:prstGeom>
          <a:solidFill>
            <a:srgbClr val="141428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139696"/>
            <a:ext cx="54864" cy="9692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23113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Infrastructure Is Mature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" y="24871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DEX liquidity, audited oracle networks, proven vault patterns. SSL is built on battle-tested primitives, not experimental tech.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139696"/>
            <a:ext cx="4151376" cy="969264"/>
          </a:xfrm>
          <a:prstGeom prst="rect">
            <a:avLst/>
          </a:prstGeom>
          <a:solidFill>
            <a:srgbClr val="141428"/>
          </a:solidFill>
          <a:ln w="10160">
            <a:solidFill>
              <a:srgbClr val="A259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139696"/>
            <a:ext cx="54864" cy="969264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23113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DeFi Accelerating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19472" y="24871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approval, RWA adoption, regulated custody — institutions are ready for sophisticated DeFi risk tools at scale.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255264"/>
            <a:ext cx="4151376" cy="969264"/>
          </a:xfrm>
          <a:prstGeom prst="rect">
            <a:avLst/>
          </a:prstGeom>
          <a:solidFill>
            <a:srgbClr val="141428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255264"/>
            <a:ext cx="54864" cy="9692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3467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Relationships Already in Place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" y="360273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Luno/DCG network provides immediate access to anchor CLN partners. First commercial conversations begin pre-launch.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255264"/>
            <a:ext cx="4151376" cy="969264"/>
          </a:xfrm>
          <a:prstGeom prst="rect">
            <a:avLst/>
          </a:prstGeom>
          <a:solidFill>
            <a:srgbClr val="141428"/>
          </a:solidFill>
          <a:ln w="10160">
            <a:solidFill>
              <a:srgbClr val="FF4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255264"/>
            <a:ext cx="54864" cy="96926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3467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Has Built This Yet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360273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risk has existed for 15 years. No protocol has built automated on-chain protection. First-mover moat window is now.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 on Traction + Partners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Build MVP. Fundraise on traction and CLN partner commitments — capital and distribution in one.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00400" cy="1920240"/>
          </a:xfrm>
          <a:prstGeom prst="rect">
            <a:avLst/>
          </a:prstGeom>
          <a:solidFill>
            <a:srgbClr val="252545"/>
          </a:solidFill>
          <a:ln w="2540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727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/ Seed Round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7614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Valuation / token terms TBD]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80560" y="14630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719072"/>
            <a:ext cx="1504188" cy="274320"/>
          </a:xfrm>
          <a:prstGeom prst="rect">
            <a:avLst/>
          </a:prstGeom>
          <a:solidFill>
            <a:srgbClr val="F7931A">
              <a:alpha val="78000"/>
            </a:srgbClr>
          </a:solidFill>
          <a:ln w="1016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76188" y="1719072"/>
            <a:ext cx="2702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— Protocol Development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2103120"/>
            <a:ext cx="859536" cy="274320"/>
          </a:xfrm>
          <a:prstGeom prst="rect">
            <a:avLst/>
          </a:prstGeom>
          <a:solidFill>
            <a:srgbClr val="4C8BF5">
              <a:alpha val="78000"/>
            </a:srgbClr>
          </a:solidFill>
          <a:ln w="10160">
            <a:solidFill>
              <a:srgbClr val="4C8B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21031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— Security Audits (×2)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2487168"/>
            <a:ext cx="859536" cy="274320"/>
          </a:xfrm>
          <a:prstGeom prst="rect">
            <a:avLst/>
          </a:prstGeom>
          <a:solidFill>
            <a:srgbClr val="00C896">
              <a:alpha val="78000"/>
            </a:srgbClr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2487168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— IF Seed Capital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2871216"/>
            <a:ext cx="515722" cy="274320"/>
          </a:xfrm>
          <a:prstGeom prst="rect">
            <a:avLst/>
          </a:prstGeom>
          <a:solidFill>
            <a:srgbClr val="A259FF">
              <a:alpha val="78000"/>
            </a:srgbClr>
          </a:solidFill>
          <a:ln w="10160">
            <a:solidFill>
              <a:srgbClr val="A25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7722" y="2871216"/>
            <a:ext cx="3690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— Legal &amp; Compliance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80560" y="3255264"/>
            <a:ext cx="558698" cy="274320"/>
          </a:xfrm>
          <a:prstGeom prst="rect">
            <a:avLst/>
          </a:prstGeom>
          <a:solidFill>
            <a:srgbClr val="02C39A">
              <a:alpha val="78000"/>
            </a:srgbClr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0698" y="3255264"/>
            <a:ext cx="36475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— Growth &amp; CLN BD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712464"/>
            <a:ext cx="8229600" cy="932688"/>
          </a:xfrm>
          <a:prstGeom prst="rect">
            <a:avLst/>
          </a:prstGeom>
          <a:solidFill>
            <a:srgbClr val="0A1422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6732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Looking For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00507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Crypto-native VCs with DeFi protocol portfolio     ▸  Investors with exchange / institutional BTC relationships     ▸  Strategic LPs who can anchor CLN partnerships     ▸  Partners aligned with MVP-first, traction-gated raise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606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STOP LOSS  |  CONFIDENTIAL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595360" y="49606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0"/>
            <a:ext cx="4572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313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 not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whether Satoshi will move.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 whether you'll be protected when they do.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SATOSHI STOP LOSS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contact@satoshistoploss.xyz  |  satoshistoploss.xyz]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NOT FOR DISTRIBUTION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Satoshi Stop Loss — Investor Pitch Deck</dc:title>
  <dc:subject>PptxGenJS Presentation</dc:subject>
  <dc:creator>Satoshi Stop Loss Protocol</dc:creator>
  <cp:lastModifiedBy>Satoshi Stop Loss Protocol</cp:lastModifiedBy>
  <cp:revision>1</cp:revision>
  <dcterms:created xsi:type="dcterms:W3CDTF">2026-04-05T16:05:41Z</dcterms:created>
  <dcterms:modified xsi:type="dcterms:W3CDTF">2026-04-05T16:05:41Z</dcterms:modified>
</cp:coreProperties>
</file>